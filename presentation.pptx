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notesMasterIdLst>
    <p:notesMasterId r:id="rId33"/>
  </p:notesMasterIdLst>
  <p:sldIdLst>
    <p:sldId id="256" r:id="rId2"/>
    <p:sldId id="284" r:id="rId3"/>
    <p:sldId id="285" r:id="rId4"/>
    <p:sldId id="295" r:id="rId5"/>
    <p:sldId id="294" r:id="rId6"/>
    <p:sldId id="258" r:id="rId7"/>
    <p:sldId id="259" r:id="rId8"/>
    <p:sldId id="286" r:id="rId9"/>
    <p:sldId id="287" r:id="rId10"/>
    <p:sldId id="296" r:id="rId11"/>
    <p:sldId id="280" r:id="rId12"/>
    <p:sldId id="297" r:id="rId13"/>
    <p:sldId id="278" r:id="rId14"/>
    <p:sldId id="298" r:id="rId15"/>
    <p:sldId id="277" r:id="rId16"/>
    <p:sldId id="261" r:id="rId17"/>
    <p:sldId id="288" r:id="rId18"/>
    <p:sldId id="293" r:id="rId19"/>
    <p:sldId id="289" r:id="rId20"/>
    <p:sldId id="291" r:id="rId21"/>
    <p:sldId id="299" r:id="rId22"/>
    <p:sldId id="263" r:id="rId23"/>
    <p:sldId id="269" r:id="rId24"/>
    <p:sldId id="300" r:id="rId25"/>
    <p:sldId id="301" r:id="rId26"/>
    <p:sldId id="302" r:id="rId27"/>
    <p:sldId id="303" r:id="rId28"/>
    <p:sldId id="305" r:id="rId29"/>
    <p:sldId id="306" r:id="rId30"/>
    <p:sldId id="304" r:id="rId31"/>
    <p:sldId id="30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73029"/>
  </p:normalViewPr>
  <p:slideViewPr>
    <p:cSldViewPr snapToGrid="0">
      <p:cViewPr varScale="1">
        <p:scale>
          <a:sx n="90" d="100"/>
          <a:sy n="90" d="100"/>
        </p:scale>
        <p:origin x="7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BC3AFD-7791-1E4E-B605-F31DCB537B41}" type="doc">
      <dgm:prSet loTypeId="urn:microsoft.com/office/officeart/2005/8/layout/chart3" loCatId="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05CAF87D-4483-4D4D-8926-4C7D240A0523}">
      <dgm:prSet phldrT="[Text]"/>
      <dgm:spPr/>
      <dgm:t>
        <a:bodyPr/>
        <a:lstStyle/>
        <a:p>
          <a:r>
            <a:rPr lang="en-US" dirty="0"/>
            <a:t>1. Live Freight Visibility</a:t>
          </a:r>
        </a:p>
      </dgm:t>
    </dgm:pt>
    <dgm:pt modelId="{CB36E0DA-B886-1349-BF97-8D62EC6D33A6}" type="parTrans" cxnId="{9FA9F105-5FBC-8242-827F-885E79818E0B}">
      <dgm:prSet/>
      <dgm:spPr/>
      <dgm:t>
        <a:bodyPr/>
        <a:lstStyle/>
        <a:p>
          <a:endParaRPr lang="en-US"/>
        </a:p>
      </dgm:t>
    </dgm:pt>
    <dgm:pt modelId="{EA89BCC4-A70F-0F46-A405-9DF68D8DE488}" type="sibTrans" cxnId="{9FA9F105-5FBC-8242-827F-885E79818E0B}">
      <dgm:prSet/>
      <dgm:spPr/>
      <dgm:t>
        <a:bodyPr/>
        <a:lstStyle/>
        <a:p>
          <a:endParaRPr lang="en-US"/>
        </a:p>
      </dgm:t>
    </dgm:pt>
    <dgm:pt modelId="{FCCD1E93-F9AE-1842-B488-5DB7FBB9072E}">
      <dgm:prSet phldrT="[Text]"/>
      <dgm:spPr/>
      <dgm:t>
        <a:bodyPr/>
        <a:lstStyle/>
        <a:p>
          <a:r>
            <a:rPr lang="en-US" dirty="0"/>
            <a:t>2. Reliable Fleet Scheduling</a:t>
          </a:r>
        </a:p>
      </dgm:t>
    </dgm:pt>
    <dgm:pt modelId="{944F7D7C-F5DD-2F4B-B598-0E4F58F24167}" type="parTrans" cxnId="{31AF8334-8E76-0243-B685-986DE081C20A}">
      <dgm:prSet/>
      <dgm:spPr/>
      <dgm:t>
        <a:bodyPr/>
        <a:lstStyle/>
        <a:p>
          <a:endParaRPr lang="en-US"/>
        </a:p>
      </dgm:t>
    </dgm:pt>
    <dgm:pt modelId="{F9A8DCDF-D470-FE49-A972-068F1A198F1E}" type="sibTrans" cxnId="{31AF8334-8E76-0243-B685-986DE081C20A}">
      <dgm:prSet/>
      <dgm:spPr/>
      <dgm:t>
        <a:bodyPr/>
        <a:lstStyle/>
        <a:p>
          <a:endParaRPr lang="en-US"/>
        </a:p>
      </dgm:t>
    </dgm:pt>
    <dgm:pt modelId="{2B75E240-3D72-3A43-BB12-0FDF0514FC7D}">
      <dgm:prSet phldrT="[Text]"/>
      <dgm:spPr/>
      <dgm:t>
        <a:bodyPr/>
        <a:lstStyle/>
        <a:p>
          <a:r>
            <a:rPr lang="en-US" dirty="0"/>
            <a:t>3. Smarter Load Chaining</a:t>
          </a:r>
        </a:p>
      </dgm:t>
    </dgm:pt>
    <dgm:pt modelId="{9A67E9B7-4AAA-4643-BADF-5AEC6F195C21}" type="parTrans" cxnId="{056CA878-DE75-3042-B973-1B9ED8115B5E}">
      <dgm:prSet/>
      <dgm:spPr/>
      <dgm:t>
        <a:bodyPr/>
        <a:lstStyle/>
        <a:p>
          <a:endParaRPr lang="en-US"/>
        </a:p>
      </dgm:t>
    </dgm:pt>
    <dgm:pt modelId="{2DE955FF-56AD-2E43-A145-3A07996C0A8F}" type="sibTrans" cxnId="{056CA878-DE75-3042-B973-1B9ED8115B5E}">
      <dgm:prSet/>
      <dgm:spPr/>
      <dgm:t>
        <a:bodyPr/>
        <a:lstStyle/>
        <a:p>
          <a:endParaRPr lang="en-US"/>
        </a:p>
      </dgm:t>
    </dgm:pt>
    <dgm:pt modelId="{5B7BB6E1-34D8-C545-82A6-3C68C03804EF}">
      <dgm:prSet phldrT="[Text]"/>
      <dgm:spPr/>
      <dgm:t>
        <a:bodyPr/>
        <a:lstStyle/>
        <a:p>
          <a:r>
            <a:rPr lang="en-US" dirty="0"/>
            <a:t>4. Profit-Aware Decisions</a:t>
          </a:r>
        </a:p>
      </dgm:t>
    </dgm:pt>
    <dgm:pt modelId="{FEBE7DEA-C5F4-644B-B771-F76D8D7F453D}" type="parTrans" cxnId="{179D386E-4763-A444-A11E-E0500FA3A97B}">
      <dgm:prSet/>
      <dgm:spPr/>
      <dgm:t>
        <a:bodyPr/>
        <a:lstStyle/>
        <a:p>
          <a:endParaRPr lang="en-US"/>
        </a:p>
      </dgm:t>
    </dgm:pt>
    <dgm:pt modelId="{FF4C0A45-5B8D-484A-834F-A6F2CDA659E7}" type="sibTrans" cxnId="{179D386E-4763-A444-A11E-E0500FA3A97B}">
      <dgm:prSet/>
      <dgm:spPr/>
      <dgm:t>
        <a:bodyPr/>
        <a:lstStyle/>
        <a:p>
          <a:endParaRPr lang="en-US"/>
        </a:p>
      </dgm:t>
    </dgm:pt>
    <dgm:pt modelId="{8B56246A-2070-734A-94AE-63BF583EF8FD}">
      <dgm:prSet phldrT="[Text]"/>
      <dgm:spPr/>
      <dgm:t>
        <a:bodyPr/>
        <a:lstStyle/>
        <a:p>
          <a:r>
            <a:rPr lang="en-US" dirty="0"/>
            <a:t>6. Persistent State and Auditability</a:t>
          </a:r>
        </a:p>
      </dgm:t>
    </dgm:pt>
    <dgm:pt modelId="{CD305470-6083-2E42-BC02-CBF7689EDD86}" type="parTrans" cxnId="{821A17D1-DC45-8B49-9539-40676423CA74}">
      <dgm:prSet/>
      <dgm:spPr/>
      <dgm:t>
        <a:bodyPr/>
        <a:lstStyle/>
        <a:p>
          <a:endParaRPr lang="en-US"/>
        </a:p>
      </dgm:t>
    </dgm:pt>
    <dgm:pt modelId="{7F47AE40-E2CC-AB47-8498-2DE18ABF7B07}" type="sibTrans" cxnId="{821A17D1-DC45-8B49-9539-40676423CA74}">
      <dgm:prSet/>
      <dgm:spPr/>
      <dgm:t>
        <a:bodyPr/>
        <a:lstStyle/>
        <a:p>
          <a:endParaRPr lang="en-US"/>
        </a:p>
      </dgm:t>
    </dgm:pt>
    <dgm:pt modelId="{75A10F36-F7B1-0242-BB58-2AD3179800D6}">
      <dgm:prSet phldrT="[Text]"/>
      <dgm:spPr/>
      <dgm:t>
        <a:bodyPr/>
        <a:lstStyle/>
        <a:p>
          <a:r>
            <a:rPr lang="en-US" dirty="0"/>
            <a:t>5. Guarded Booking Autopilot</a:t>
          </a:r>
        </a:p>
      </dgm:t>
    </dgm:pt>
    <dgm:pt modelId="{316AF5D5-6459-A74D-9B5B-9213191FADBE}" type="sibTrans" cxnId="{5001F2E7-B4F7-624F-80A9-ED2175007139}">
      <dgm:prSet/>
      <dgm:spPr/>
      <dgm:t>
        <a:bodyPr/>
        <a:lstStyle/>
        <a:p>
          <a:endParaRPr lang="en-US"/>
        </a:p>
      </dgm:t>
    </dgm:pt>
    <dgm:pt modelId="{2E66CEDC-4FC2-3942-B4EF-C48A78F75088}" type="parTrans" cxnId="{5001F2E7-B4F7-624F-80A9-ED2175007139}">
      <dgm:prSet/>
      <dgm:spPr/>
      <dgm:t>
        <a:bodyPr/>
        <a:lstStyle/>
        <a:p>
          <a:endParaRPr lang="en-US"/>
        </a:p>
      </dgm:t>
    </dgm:pt>
    <dgm:pt modelId="{92FE7F79-D46E-654C-BBE1-2A9D9604A3C1}" type="pres">
      <dgm:prSet presAssocID="{D9BC3AFD-7791-1E4E-B605-F31DCB537B41}" presName="compositeShape" presStyleCnt="0">
        <dgm:presLayoutVars>
          <dgm:chMax val="7"/>
          <dgm:dir/>
          <dgm:resizeHandles val="exact"/>
        </dgm:presLayoutVars>
      </dgm:prSet>
      <dgm:spPr/>
    </dgm:pt>
    <dgm:pt modelId="{22CC418C-EE80-1944-A9F6-868AF210B284}" type="pres">
      <dgm:prSet presAssocID="{D9BC3AFD-7791-1E4E-B605-F31DCB537B41}" presName="wedge1" presStyleLbl="node1" presStyleIdx="0" presStyleCnt="6" custLinFactNeighborX="-3309" custLinFactNeighborY="4963"/>
      <dgm:spPr/>
    </dgm:pt>
    <dgm:pt modelId="{7F9792E6-DBC0-8B48-956C-1584F442AAC2}" type="pres">
      <dgm:prSet presAssocID="{D9BC3AFD-7791-1E4E-B605-F31DCB537B41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AC99AE0E-51C8-374F-8991-D8B92E12A01C}" type="pres">
      <dgm:prSet presAssocID="{D9BC3AFD-7791-1E4E-B605-F31DCB537B41}" presName="wedge2" presStyleLbl="node1" presStyleIdx="1" presStyleCnt="6"/>
      <dgm:spPr/>
    </dgm:pt>
    <dgm:pt modelId="{19595C05-EC47-C148-87E3-262DCEDAB8F9}" type="pres">
      <dgm:prSet presAssocID="{D9BC3AFD-7791-1E4E-B605-F31DCB537B41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68C2A54-CAB1-C149-BECB-0C61D4798DD8}" type="pres">
      <dgm:prSet presAssocID="{D9BC3AFD-7791-1E4E-B605-F31DCB537B41}" presName="wedge3" presStyleLbl="node1" presStyleIdx="2" presStyleCnt="6"/>
      <dgm:spPr/>
    </dgm:pt>
    <dgm:pt modelId="{9E1DC65F-2C09-5241-BAE5-5642D7F33E92}" type="pres">
      <dgm:prSet presAssocID="{D9BC3AFD-7791-1E4E-B605-F31DCB537B41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E8A1D12-63AC-1343-ABFC-5ECB42002060}" type="pres">
      <dgm:prSet presAssocID="{D9BC3AFD-7791-1E4E-B605-F31DCB537B41}" presName="wedge4" presStyleLbl="node1" presStyleIdx="3" presStyleCnt="6"/>
      <dgm:spPr/>
    </dgm:pt>
    <dgm:pt modelId="{DEB69679-8C44-7C4B-8A30-AFD35C523337}" type="pres">
      <dgm:prSet presAssocID="{D9BC3AFD-7791-1E4E-B605-F31DCB537B41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93602A6B-B376-3B43-95C1-A184EC6C7771}" type="pres">
      <dgm:prSet presAssocID="{D9BC3AFD-7791-1E4E-B605-F31DCB537B41}" presName="wedge5" presStyleLbl="node1" presStyleIdx="4" presStyleCnt="6"/>
      <dgm:spPr/>
    </dgm:pt>
    <dgm:pt modelId="{810020C3-CE46-2147-8820-339A90CDBDA6}" type="pres">
      <dgm:prSet presAssocID="{D9BC3AFD-7791-1E4E-B605-F31DCB537B41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552D47D4-E1A5-D746-A214-0ABEE3589E22}" type="pres">
      <dgm:prSet presAssocID="{D9BC3AFD-7791-1E4E-B605-F31DCB537B41}" presName="wedge6" presStyleLbl="node1" presStyleIdx="5" presStyleCnt="6" custLinFactNeighborX="-166" custLinFactNeighborY="946"/>
      <dgm:spPr/>
    </dgm:pt>
    <dgm:pt modelId="{80DC466C-4BCE-9D4D-B88D-6584BA05CF3C}" type="pres">
      <dgm:prSet presAssocID="{D9BC3AFD-7791-1E4E-B605-F31DCB537B41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4B2D4005-4ECD-F341-B9FC-D57D468F5540}" type="presOf" srcId="{8B56246A-2070-734A-94AE-63BF583EF8FD}" destId="{80DC466C-4BCE-9D4D-B88D-6584BA05CF3C}" srcOrd="1" destOrd="0" presId="urn:microsoft.com/office/officeart/2005/8/layout/chart3"/>
    <dgm:cxn modelId="{9FA9F105-5FBC-8242-827F-885E79818E0B}" srcId="{D9BC3AFD-7791-1E4E-B605-F31DCB537B41}" destId="{05CAF87D-4483-4D4D-8926-4C7D240A0523}" srcOrd="0" destOrd="0" parTransId="{CB36E0DA-B886-1349-BF97-8D62EC6D33A6}" sibTransId="{EA89BCC4-A70F-0F46-A405-9DF68D8DE488}"/>
    <dgm:cxn modelId="{3CAB4D24-3A95-1A42-9359-B6CDF9079EA1}" type="presOf" srcId="{75A10F36-F7B1-0242-BB58-2AD3179800D6}" destId="{810020C3-CE46-2147-8820-339A90CDBDA6}" srcOrd="1" destOrd="0" presId="urn:microsoft.com/office/officeart/2005/8/layout/chart3"/>
    <dgm:cxn modelId="{31AF8334-8E76-0243-B685-986DE081C20A}" srcId="{D9BC3AFD-7791-1E4E-B605-F31DCB537B41}" destId="{FCCD1E93-F9AE-1842-B488-5DB7FBB9072E}" srcOrd="1" destOrd="0" parTransId="{944F7D7C-F5DD-2F4B-B598-0E4F58F24167}" sibTransId="{F9A8DCDF-D470-FE49-A972-068F1A198F1E}"/>
    <dgm:cxn modelId="{FC488544-AEB2-9E46-9F74-61D7DFE5F2A9}" type="presOf" srcId="{FCCD1E93-F9AE-1842-B488-5DB7FBB9072E}" destId="{19595C05-EC47-C148-87E3-262DCEDAB8F9}" srcOrd="1" destOrd="0" presId="urn:microsoft.com/office/officeart/2005/8/layout/chart3"/>
    <dgm:cxn modelId="{7A8D3350-3BC8-444A-A66F-8266F503E6EA}" type="presOf" srcId="{75A10F36-F7B1-0242-BB58-2AD3179800D6}" destId="{93602A6B-B376-3B43-95C1-A184EC6C7771}" srcOrd="0" destOrd="0" presId="urn:microsoft.com/office/officeart/2005/8/layout/chart3"/>
    <dgm:cxn modelId="{179D386E-4763-A444-A11E-E0500FA3A97B}" srcId="{D9BC3AFD-7791-1E4E-B605-F31DCB537B41}" destId="{5B7BB6E1-34D8-C545-82A6-3C68C03804EF}" srcOrd="3" destOrd="0" parTransId="{FEBE7DEA-C5F4-644B-B771-F76D8D7F453D}" sibTransId="{FF4C0A45-5B8D-484A-834F-A6F2CDA659E7}"/>
    <dgm:cxn modelId="{C0D24E6E-8ADE-0847-8360-A8406550B065}" type="presOf" srcId="{2B75E240-3D72-3A43-BB12-0FDF0514FC7D}" destId="{9E1DC65F-2C09-5241-BAE5-5642D7F33E92}" srcOrd="1" destOrd="0" presId="urn:microsoft.com/office/officeart/2005/8/layout/chart3"/>
    <dgm:cxn modelId="{EF771678-D872-E947-A42A-0D0BA2B8C81E}" type="presOf" srcId="{5B7BB6E1-34D8-C545-82A6-3C68C03804EF}" destId="{DEB69679-8C44-7C4B-8A30-AFD35C523337}" srcOrd="1" destOrd="0" presId="urn:microsoft.com/office/officeart/2005/8/layout/chart3"/>
    <dgm:cxn modelId="{056CA878-DE75-3042-B973-1B9ED8115B5E}" srcId="{D9BC3AFD-7791-1E4E-B605-F31DCB537B41}" destId="{2B75E240-3D72-3A43-BB12-0FDF0514FC7D}" srcOrd="2" destOrd="0" parTransId="{9A67E9B7-4AAA-4643-BADF-5AEC6F195C21}" sibTransId="{2DE955FF-56AD-2E43-A145-3A07996C0A8F}"/>
    <dgm:cxn modelId="{9BCD457C-C662-B641-806D-737D94ABF7A5}" type="presOf" srcId="{5B7BB6E1-34D8-C545-82A6-3C68C03804EF}" destId="{6E8A1D12-63AC-1343-ABFC-5ECB42002060}" srcOrd="0" destOrd="0" presId="urn:microsoft.com/office/officeart/2005/8/layout/chart3"/>
    <dgm:cxn modelId="{86AF3885-BFDF-DD4B-9EBB-EAE41791BB50}" type="presOf" srcId="{05CAF87D-4483-4D4D-8926-4C7D240A0523}" destId="{7F9792E6-DBC0-8B48-956C-1584F442AAC2}" srcOrd="1" destOrd="0" presId="urn:microsoft.com/office/officeart/2005/8/layout/chart3"/>
    <dgm:cxn modelId="{08EE93CD-73BE-B949-B819-F36636C488AD}" type="presOf" srcId="{8B56246A-2070-734A-94AE-63BF583EF8FD}" destId="{552D47D4-E1A5-D746-A214-0ABEE3589E22}" srcOrd="0" destOrd="0" presId="urn:microsoft.com/office/officeart/2005/8/layout/chart3"/>
    <dgm:cxn modelId="{821A17D1-DC45-8B49-9539-40676423CA74}" srcId="{D9BC3AFD-7791-1E4E-B605-F31DCB537B41}" destId="{8B56246A-2070-734A-94AE-63BF583EF8FD}" srcOrd="5" destOrd="0" parTransId="{CD305470-6083-2E42-BC02-CBF7689EDD86}" sibTransId="{7F47AE40-E2CC-AB47-8498-2DE18ABF7B07}"/>
    <dgm:cxn modelId="{9E7DB5D5-E63C-3F4A-8530-537DB8A5D4CC}" type="presOf" srcId="{FCCD1E93-F9AE-1842-B488-5DB7FBB9072E}" destId="{AC99AE0E-51C8-374F-8991-D8B92E12A01C}" srcOrd="0" destOrd="0" presId="urn:microsoft.com/office/officeart/2005/8/layout/chart3"/>
    <dgm:cxn modelId="{0A57BAD7-3007-2C4E-9050-AD6910AEC3C0}" type="presOf" srcId="{D9BC3AFD-7791-1E4E-B605-F31DCB537B41}" destId="{92FE7F79-D46E-654C-BBE1-2A9D9604A3C1}" srcOrd="0" destOrd="0" presId="urn:microsoft.com/office/officeart/2005/8/layout/chart3"/>
    <dgm:cxn modelId="{5001F2E7-B4F7-624F-80A9-ED2175007139}" srcId="{D9BC3AFD-7791-1E4E-B605-F31DCB537B41}" destId="{75A10F36-F7B1-0242-BB58-2AD3179800D6}" srcOrd="4" destOrd="0" parTransId="{2E66CEDC-4FC2-3942-B4EF-C48A78F75088}" sibTransId="{316AF5D5-6459-A74D-9B5B-9213191FADBE}"/>
    <dgm:cxn modelId="{CE5C73EA-1E9C-2640-B39E-36EF89D67C77}" type="presOf" srcId="{2B75E240-3D72-3A43-BB12-0FDF0514FC7D}" destId="{268C2A54-CAB1-C149-BECB-0C61D4798DD8}" srcOrd="0" destOrd="0" presId="urn:microsoft.com/office/officeart/2005/8/layout/chart3"/>
    <dgm:cxn modelId="{C5BF97F6-03BB-7C4D-934F-D7C932C14524}" type="presOf" srcId="{05CAF87D-4483-4D4D-8926-4C7D240A0523}" destId="{22CC418C-EE80-1944-A9F6-868AF210B284}" srcOrd="0" destOrd="0" presId="urn:microsoft.com/office/officeart/2005/8/layout/chart3"/>
    <dgm:cxn modelId="{9B8BB8CC-F672-3F4F-82E4-5BC4735C8794}" type="presParOf" srcId="{92FE7F79-D46E-654C-BBE1-2A9D9604A3C1}" destId="{22CC418C-EE80-1944-A9F6-868AF210B284}" srcOrd="0" destOrd="0" presId="urn:microsoft.com/office/officeart/2005/8/layout/chart3"/>
    <dgm:cxn modelId="{101B7BE6-3979-FE4A-AE65-D9D9D6AE25AC}" type="presParOf" srcId="{92FE7F79-D46E-654C-BBE1-2A9D9604A3C1}" destId="{7F9792E6-DBC0-8B48-956C-1584F442AAC2}" srcOrd="1" destOrd="0" presId="urn:microsoft.com/office/officeart/2005/8/layout/chart3"/>
    <dgm:cxn modelId="{23F0E568-8C6A-9145-84F7-ACC99FBB4C71}" type="presParOf" srcId="{92FE7F79-D46E-654C-BBE1-2A9D9604A3C1}" destId="{AC99AE0E-51C8-374F-8991-D8B92E12A01C}" srcOrd="2" destOrd="0" presId="urn:microsoft.com/office/officeart/2005/8/layout/chart3"/>
    <dgm:cxn modelId="{15B4E9F2-D189-C844-80D0-5ECCA8EA87B6}" type="presParOf" srcId="{92FE7F79-D46E-654C-BBE1-2A9D9604A3C1}" destId="{19595C05-EC47-C148-87E3-262DCEDAB8F9}" srcOrd="3" destOrd="0" presId="urn:microsoft.com/office/officeart/2005/8/layout/chart3"/>
    <dgm:cxn modelId="{A35111FD-816B-8241-978E-D841AB805924}" type="presParOf" srcId="{92FE7F79-D46E-654C-BBE1-2A9D9604A3C1}" destId="{268C2A54-CAB1-C149-BECB-0C61D4798DD8}" srcOrd="4" destOrd="0" presId="urn:microsoft.com/office/officeart/2005/8/layout/chart3"/>
    <dgm:cxn modelId="{37E93833-FE01-8D49-A137-2F3DFF367474}" type="presParOf" srcId="{92FE7F79-D46E-654C-BBE1-2A9D9604A3C1}" destId="{9E1DC65F-2C09-5241-BAE5-5642D7F33E92}" srcOrd="5" destOrd="0" presId="urn:microsoft.com/office/officeart/2005/8/layout/chart3"/>
    <dgm:cxn modelId="{14B67A1F-3D69-E54E-93C9-756A94CBD71D}" type="presParOf" srcId="{92FE7F79-D46E-654C-BBE1-2A9D9604A3C1}" destId="{6E8A1D12-63AC-1343-ABFC-5ECB42002060}" srcOrd="6" destOrd="0" presId="urn:microsoft.com/office/officeart/2005/8/layout/chart3"/>
    <dgm:cxn modelId="{EB6FAFFB-F01C-DA45-ADF1-99034BB3F2A7}" type="presParOf" srcId="{92FE7F79-D46E-654C-BBE1-2A9D9604A3C1}" destId="{DEB69679-8C44-7C4B-8A30-AFD35C523337}" srcOrd="7" destOrd="0" presId="urn:microsoft.com/office/officeart/2005/8/layout/chart3"/>
    <dgm:cxn modelId="{C5C0702C-8914-7C46-AE3E-7C00B45A2238}" type="presParOf" srcId="{92FE7F79-D46E-654C-BBE1-2A9D9604A3C1}" destId="{93602A6B-B376-3B43-95C1-A184EC6C7771}" srcOrd="8" destOrd="0" presId="urn:microsoft.com/office/officeart/2005/8/layout/chart3"/>
    <dgm:cxn modelId="{8CF7350A-1BFB-4946-B541-B7A90BEEF213}" type="presParOf" srcId="{92FE7F79-D46E-654C-BBE1-2A9D9604A3C1}" destId="{810020C3-CE46-2147-8820-339A90CDBDA6}" srcOrd="9" destOrd="0" presId="urn:microsoft.com/office/officeart/2005/8/layout/chart3"/>
    <dgm:cxn modelId="{5BD9D90F-EDAA-8543-8434-FA86186613B4}" type="presParOf" srcId="{92FE7F79-D46E-654C-BBE1-2A9D9604A3C1}" destId="{552D47D4-E1A5-D746-A214-0ABEE3589E22}" srcOrd="10" destOrd="0" presId="urn:microsoft.com/office/officeart/2005/8/layout/chart3"/>
    <dgm:cxn modelId="{68497E6D-68A1-BE41-99A7-C622A8DC1CE1}" type="presParOf" srcId="{92FE7F79-D46E-654C-BBE1-2A9D9604A3C1}" destId="{80DC466C-4BCE-9D4D-B88D-6584BA05CF3C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CC418C-EE80-1944-A9F6-868AF210B284}">
      <dsp:nvSpPr>
        <dsp:cNvPr id="0" name=""/>
        <dsp:cNvSpPr/>
      </dsp:nvSpPr>
      <dsp:spPr>
        <a:xfrm>
          <a:off x="1705278" y="542079"/>
          <a:ext cx="4551680" cy="4551680"/>
        </a:xfrm>
        <a:prstGeom prst="pie">
          <a:avLst>
            <a:gd name="adj1" fmla="val 16200000"/>
            <a:gd name="adj2" fmla="val 19800000"/>
          </a:avLst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 Live Freight Visibility</a:t>
          </a:r>
        </a:p>
      </dsp:txBody>
      <dsp:txXfrm>
        <a:off x="4029886" y="1029759"/>
        <a:ext cx="1327573" cy="975360"/>
      </dsp:txXfrm>
    </dsp:sp>
    <dsp:sp modelId="{AC99AE0E-51C8-374F-8991-D8B92E12A01C}">
      <dsp:nvSpPr>
        <dsp:cNvPr id="0" name=""/>
        <dsp:cNvSpPr/>
      </dsp:nvSpPr>
      <dsp:spPr>
        <a:xfrm>
          <a:off x="1720426" y="550807"/>
          <a:ext cx="4551680" cy="4551680"/>
        </a:xfrm>
        <a:prstGeom prst="pie">
          <a:avLst>
            <a:gd name="adj1" fmla="val 19800000"/>
            <a:gd name="adj2" fmla="val 1800000"/>
          </a:avLst>
        </a:prstGeom>
        <a:solidFill>
          <a:schemeClr val="accent3">
            <a:shade val="50000"/>
            <a:hueOff val="-88830"/>
            <a:satOff val="-19193"/>
            <a:lumOff val="183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2. Reliable Fleet Scheduling</a:t>
          </a:r>
        </a:p>
      </dsp:txBody>
      <dsp:txXfrm>
        <a:off x="4836160" y="2366060"/>
        <a:ext cx="1376341" cy="921173"/>
      </dsp:txXfrm>
    </dsp:sp>
    <dsp:sp modelId="{268C2A54-CAB1-C149-BECB-0C61D4798DD8}">
      <dsp:nvSpPr>
        <dsp:cNvPr id="0" name=""/>
        <dsp:cNvSpPr/>
      </dsp:nvSpPr>
      <dsp:spPr>
        <a:xfrm>
          <a:off x="1720426" y="550807"/>
          <a:ext cx="4551680" cy="4551680"/>
        </a:xfrm>
        <a:prstGeom prst="pie">
          <a:avLst>
            <a:gd name="adj1" fmla="val 1800000"/>
            <a:gd name="adj2" fmla="val 5400000"/>
          </a:avLst>
        </a:prstGeom>
        <a:solidFill>
          <a:schemeClr val="accent3">
            <a:shade val="50000"/>
            <a:hueOff val="-177661"/>
            <a:satOff val="-38386"/>
            <a:lumOff val="366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3. Smarter Load Chaining</a:t>
          </a:r>
        </a:p>
      </dsp:txBody>
      <dsp:txXfrm>
        <a:off x="4045034" y="3639447"/>
        <a:ext cx="1327573" cy="975360"/>
      </dsp:txXfrm>
    </dsp:sp>
    <dsp:sp modelId="{6E8A1D12-63AC-1343-ABFC-5ECB42002060}">
      <dsp:nvSpPr>
        <dsp:cNvPr id="0" name=""/>
        <dsp:cNvSpPr/>
      </dsp:nvSpPr>
      <dsp:spPr>
        <a:xfrm>
          <a:off x="1720426" y="550807"/>
          <a:ext cx="4551680" cy="4551680"/>
        </a:xfrm>
        <a:prstGeom prst="pie">
          <a:avLst>
            <a:gd name="adj1" fmla="val 5400000"/>
            <a:gd name="adj2" fmla="val 9000000"/>
          </a:avLst>
        </a:prstGeom>
        <a:solidFill>
          <a:schemeClr val="accent3">
            <a:shade val="50000"/>
            <a:hueOff val="-266491"/>
            <a:satOff val="-57579"/>
            <a:lumOff val="550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4. Profit-Aware Decisions</a:t>
          </a:r>
        </a:p>
      </dsp:txBody>
      <dsp:txXfrm>
        <a:off x="2619925" y="3639447"/>
        <a:ext cx="1327573" cy="975360"/>
      </dsp:txXfrm>
    </dsp:sp>
    <dsp:sp modelId="{93602A6B-B376-3B43-95C1-A184EC6C7771}">
      <dsp:nvSpPr>
        <dsp:cNvPr id="0" name=""/>
        <dsp:cNvSpPr/>
      </dsp:nvSpPr>
      <dsp:spPr>
        <a:xfrm>
          <a:off x="1720426" y="550807"/>
          <a:ext cx="4551680" cy="4551680"/>
        </a:xfrm>
        <a:prstGeom prst="pie">
          <a:avLst>
            <a:gd name="adj1" fmla="val 9000000"/>
            <a:gd name="adj2" fmla="val 12600000"/>
          </a:avLst>
        </a:prstGeom>
        <a:solidFill>
          <a:schemeClr val="accent3">
            <a:shade val="50000"/>
            <a:hueOff val="-177661"/>
            <a:satOff val="-38386"/>
            <a:lumOff val="366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5. Guarded Booking Autopilot</a:t>
          </a:r>
        </a:p>
      </dsp:txBody>
      <dsp:txXfrm>
        <a:off x="1790869" y="2366060"/>
        <a:ext cx="1376341" cy="921173"/>
      </dsp:txXfrm>
    </dsp:sp>
    <dsp:sp modelId="{552D47D4-E1A5-D746-A214-0ABEE3589E22}">
      <dsp:nvSpPr>
        <dsp:cNvPr id="0" name=""/>
        <dsp:cNvSpPr/>
      </dsp:nvSpPr>
      <dsp:spPr>
        <a:xfrm>
          <a:off x="1712870" y="593866"/>
          <a:ext cx="4551680" cy="4551680"/>
        </a:xfrm>
        <a:prstGeom prst="pie">
          <a:avLst>
            <a:gd name="adj1" fmla="val 12600000"/>
            <a:gd name="adj2" fmla="val 16200000"/>
          </a:avLst>
        </a:prstGeom>
        <a:solidFill>
          <a:schemeClr val="accent3">
            <a:shade val="50000"/>
            <a:hueOff val="-88830"/>
            <a:satOff val="-19193"/>
            <a:lumOff val="183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6. Persistent State and Auditability</a:t>
          </a:r>
        </a:p>
      </dsp:txBody>
      <dsp:txXfrm>
        <a:off x="2612369" y="1081546"/>
        <a:ext cx="1327573" cy="975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481A7-8701-2E4B-83F8-97337B8D5D8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4325B-6866-304B-B460-DB073FE17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34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RPM  =rate per mile</a:t>
            </a:r>
          </a:p>
          <a:p>
            <a:r>
              <a:rPr lang="en-US" dirty="0"/>
              <a:t>MLP = multilayer perception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4325B-6866-304B-B460-DB073FE174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10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Capture Live Opportunities — Sync orders, fleet, terminals, and simulated time. </a:t>
            </a:r>
          </a:p>
          <a:p>
            <a:r>
              <a:rPr lang="en-US" dirty="0"/>
              <a:t>  2. Check Operational Feasibility — Verify truck availability, schedules, weight, location, and expiry. </a:t>
            </a:r>
          </a:p>
          <a:p>
            <a:r>
              <a:rPr lang="en-US" dirty="0"/>
              <a:t>  3. Calculate Expected Profit — Estimate selected-truck deadhead, total cost, margin, and bid floor. </a:t>
            </a:r>
          </a:p>
          <a:p>
            <a:r>
              <a:rPr lang="en-US" dirty="0"/>
              <a:t>  4. Choose the Booking — Support a dispatcher’s decision or an authorized autopilot selection. </a:t>
            </a:r>
          </a:p>
          <a:p>
            <a:r>
              <a:rPr lang="en-US" dirty="0"/>
              <a:t>  5. Reserve and Submit — Reserve capacity atomically, recheck applicable conditions, and call the board. </a:t>
            </a:r>
          </a:p>
          <a:p>
            <a:r>
              <a:rPr lang="en-US" dirty="0"/>
              <a:t>  6. Track and Reconcile — Confirm awards, assignments, transit, and completion; update capacity and audit history.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4325B-6866-304B-B460-DB073FE1741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70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4325B-6866-304B-B460-DB073FE1741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93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4325B-6866-304B-B460-DB073FE1741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98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4325B-6866-304B-B460-DB073FE1741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65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Unnecessary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4325B-6866-304B-B460-DB073FE1741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18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473F-ECF2-76DB-2923-277F51E96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E2234-30F9-E268-1593-3297AAC39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7701E-146D-20E3-55B0-5B4D255D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04BBE-14FD-8344-B144-6A8CD70B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F4CEF-43B2-82CB-0A4F-51356724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75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9366-B657-4E76-4784-AB59273D6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509B8-EC1E-F7DE-1B03-ACEA9405D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51769-365D-602A-F70C-F912E9CDB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00FDC-906B-90F7-0200-92CCC24A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8E7B9-44D4-69EE-8769-3DC2EF22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5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D4B3-4C74-3C76-6E4A-03E60EC2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A5A5C-FADA-C8A0-3888-13E6516BC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42B4B-246B-5DC5-9117-E4EE90ABD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D286D-9A2A-5A6D-76B6-1315B637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56088-0197-AE50-9A4E-4A5841C5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5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CEBA0-97D5-AFE7-871B-F11D9941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50544-E795-EF83-3A86-98AF03F20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35235-F394-755F-90EE-7065C75BF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5A40B-B586-0D48-895D-A98230E7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C9A7E-A4C7-FC9D-4C32-EB2CE01D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1342E-BA63-0ABE-F0C3-A737BEE5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EAF4-A982-D7D2-EFF1-941530D3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B226F-9E08-2E21-CD70-0F1C8EECA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351C9-B377-EF70-D126-168A9DC2E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18F2F-49C9-2CAE-6017-9E36FDE43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B26B0-B80B-D339-0E9E-4AFCA0E08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BD5CB8-71A0-07A0-E031-647C4F94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84919-F399-B4B6-A706-20BED60E2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E7758D-3BBB-8A6C-FE7D-39267C1C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8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FF6F-9A68-E2AC-6AD8-70372DD9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7094D-B99D-E1FD-440D-A9874EBD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507FC-B423-B91D-8BEA-C35C29961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77414-FACE-C6D5-2686-DA6A5649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8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696B2-600B-518C-C95F-5854AD34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B19035-18AD-E74A-CCFB-16F80DB2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417E4-4D21-2A6D-188F-F8F1AA67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0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A8A2-D8C9-FE69-7F6A-314AEDA8B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895F2-04ED-5BB8-D737-E23973E08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11A4D-0017-BD94-FB97-AEBF7949C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55359-D1E8-3689-F276-B49535E36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98D41-CAFF-E7CD-1826-583DE718D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BBC31-C6B5-1AC9-6541-325DB612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32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CBFD-1734-88F9-01C8-93BD023DC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6991F-D32E-22C4-1A4D-9ACD2F5DF37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4CA28-53D8-7387-722C-5A40E63E4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297B1-4C77-E968-BD52-D969CD529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3FE8F-900E-B071-2578-9D50A1A5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ED4E9-B8D0-BD00-2139-77B1B2F6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5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89DC-72DB-F205-E9A1-FD59B455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6EBC6-7B08-D2F9-8F55-E606F13FB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38F18-8F72-1971-A7C6-2509294C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CD988-DBDE-7781-A744-E8EC2D0E1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6240B-1F84-964C-A6B6-A33BDF8F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2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1DCCFD-2D76-7708-8A74-F0BE44FE3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3C8DA-DAEC-090A-55E4-4B9CD8FF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0A2FA-C7B7-407D-D543-31AFC53D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DD6FC-6139-6260-F733-A3383A5D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E789-5DF0-5DFB-8245-00E066AD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C097E-0A61-AFC5-0CBB-C7658B90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5E851-1D39-506B-420B-C458F8C87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B776B-E3CF-2179-E614-33AA2C1D3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F2AFD-B4F4-2B4F-B985-24277D8FC77C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73520-2937-5D68-AF05-4A43BF24A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9C68F-6613-0A95-23CE-990EC5F2A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D8329-5587-A944-9BA5-8079AF44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1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imgo012/SFI-Challeng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80BC-FCBF-6B8B-A10A-324BB5FE16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SFI Challenge</a:t>
            </a:r>
            <a:br>
              <a:rPr lang="en-US" dirty="0"/>
            </a:br>
            <a:r>
              <a:rPr lang="en-US" dirty="0"/>
              <a:t>Solution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96084-E9EC-A68B-051E-ABA7DAA50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43562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TEAM </a:t>
            </a:r>
            <a:r>
              <a:rPr lang="en-CA" b="1" dirty="0" err="1">
                <a:effectLst/>
              </a:rPr>
              <a:t>Karnex</a:t>
            </a:r>
            <a:r>
              <a:rPr lang="en-CA" b="1" dirty="0">
                <a:effectLst/>
              </a:rPr>
              <a:t>/Thunder Brain</a:t>
            </a:r>
          </a:p>
          <a:p>
            <a:r>
              <a:rPr lang="en-CA" dirty="0"/>
              <a:t>John Rycca Belcina </a:t>
            </a:r>
            <a:r>
              <a:rPr lang="en-CA" i="1" dirty="0"/>
              <a:t>&amp; </a:t>
            </a:r>
            <a:r>
              <a:rPr lang="en-CA" dirty="0"/>
              <a:t>Harkiran Deep Singh Panesar</a:t>
            </a:r>
          </a:p>
          <a:p>
            <a:endParaRPr lang="en-CA" dirty="0"/>
          </a:p>
          <a:p>
            <a:r>
              <a:rPr lang="en-US" dirty="0"/>
              <a:t>GitHub repository link: </a:t>
            </a:r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github.com</a:t>
            </a:r>
            <a:r>
              <a:rPr lang="en-US" dirty="0">
                <a:hlinkClick r:id="rId3"/>
              </a:rPr>
              <a:t>/Zimgo012/SFI-Challenge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655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35A5-7222-AB59-2805-5E14D4DE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The 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195342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A4F1F12-9355-520C-7BA2-8135043423DF}"/>
              </a:ext>
            </a:extLst>
          </p:cNvPr>
          <p:cNvSpPr txBox="1"/>
          <p:nvPr/>
        </p:nvSpPr>
        <p:spPr>
          <a:xfrm>
            <a:off x="838199" y="1234608"/>
            <a:ext cx="9370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Trucks driving empty waste fuels, time, and money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207534-FB1A-FB52-D70D-EF1647D2B124}"/>
              </a:ext>
            </a:extLst>
          </p:cNvPr>
          <p:cNvSpPr txBox="1"/>
          <p:nvPr/>
        </p:nvSpPr>
        <p:spPr>
          <a:xfrm>
            <a:off x="838199" y="2418080"/>
            <a:ext cx="102529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Conflicting schedules cause double-booking and missed pickups.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C21D35-D8D8-1696-FA5A-86066F117A86}"/>
              </a:ext>
            </a:extLst>
          </p:cNvPr>
          <p:cNvSpPr txBox="1"/>
          <p:nvPr/>
        </p:nvSpPr>
        <p:spPr>
          <a:xfrm>
            <a:off x="838199" y="3870534"/>
            <a:ext cx="10252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Winning shipments does not guarantee profitable deliveries.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4769D8-45A8-45B7-9E62-75265EF7F1BD}"/>
              </a:ext>
            </a:extLst>
          </p:cNvPr>
          <p:cNvSpPr txBox="1"/>
          <p:nvPr/>
        </p:nvSpPr>
        <p:spPr>
          <a:xfrm>
            <a:off x="838199" y="4892102"/>
            <a:ext cx="8643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Expiring offers demand fast, 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1492236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595EE-1D8D-905F-7FA4-608478DA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75CF4-0752-8A85-DF11-62A4793E4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The Challenge Goal</a:t>
            </a:r>
          </a:p>
        </p:txBody>
      </p:sp>
    </p:spTree>
    <p:extLst>
      <p:ext uri="{BB962C8B-B14F-4D97-AF65-F5344CB8AC3E}">
        <p14:creationId xmlns:p14="http://schemas.microsoft.com/office/powerpoint/2010/main" val="426577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08F8E-2C2C-148A-55A7-C194431BC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01093F-DCC4-F779-1D2F-BD548AB22FFF}"/>
              </a:ext>
            </a:extLst>
          </p:cNvPr>
          <p:cNvSpPr txBox="1"/>
          <p:nvPr/>
        </p:nvSpPr>
        <p:spPr>
          <a:xfrm>
            <a:off x="838199" y="1234608"/>
            <a:ext cx="9973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Reduce empty miles by chaining compatible loads.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6F64A-127B-EDF6-3852-8FD6FA6549F6}"/>
              </a:ext>
            </a:extLst>
          </p:cNvPr>
          <p:cNvSpPr txBox="1"/>
          <p:nvPr/>
        </p:nvSpPr>
        <p:spPr>
          <a:xfrm>
            <a:off x="838199" y="2418080"/>
            <a:ext cx="102529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Match shipments with available trucks and conflict-free schedules.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D83D4-9D50-5850-C205-6AA1DB30E893}"/>
              </a:ext>
            </a:extLst>
          </p:cNvPr>
          <p:cNvSpPr txBox="1"/>
          <p:nvPr/>
        </p:nvSpPr>
        <p:spPr>
          <a:xfrm>
            <a:off x="838199" y="3814186"/>
            <a:ext cx="10252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Protect profit margins before accepting or bidding.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ED49A3-92F3-82D9-AD17-CE5A8CEE8363}"/>
              </a:ext>
            </a:extLst>
          </p:cNvPr>
          <p:cNvSpPr txBox="1"/>
          <p:nvPr/>
        </p:nvSpPr>
        <p:spPr>
          <a:xfrm>
            <a:off x="838199" y="4908779"/>
            <a:ext cx="102529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live data and guarded automation to capture worthwhile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887246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5EC20-529A-7EEC-159F-8568F0FC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005" y="148281"/>
            <a:ext cx="10515600" cy="1325563"/>
          </a:xfrm>
        </p:spPr>
        <p:txBody>
          <a:bodyPr/>
          <a:lstStyle/>
          <a:p>
            <a:r>
              <a:rPr lang="en-US" dirty="0"/>
              <a:t>High-level System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E1DBDB-2B44-1154-7B6A-1AA1E16E8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840" y="1271955"/>
            <a:ext cx="9026319" cy="52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608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CE363-5054-6508-6A16-B1901DCC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2478-512D-DCC3-7083-1CBF169EC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91" y="365125"/>
            <a:ext cx="10515600" cy="1325563"/>
          </a:xfrm>
        </p:spPr>
        <p:txBody>
          <a:bodyPr/>
          <a:lstStyle/>
          <a:p>
            <a:r>
              <a:rPr lang="en-US" dirty="0"/>
              <a:t>ERD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F037492-8BCF-A8C1-F8BC-F8BC91D7C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9421" y="268941"/>
            <a:ext cx="6529892" cy="622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4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F84EB-238D-11A1-8441-5FE187D5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9991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What the Backend Delivers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897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57274-B1DE-B7A9-BBBE-A228F3358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106" y="361482"/>
            <a:ext cx="6089725" cy="6135035"/>
          </a:xfrm>
        </p:spPr>
        <p:txBody>
          <a:bodyPr>
            <a:normAutofit fontScale="85000" lnSpcReduction="20000"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CA" dirty="0"/>
              <a:t>Synchronize orders, fleet, terminals, and simulated time through </a:t>
            </a:r>
            <a:r>
              <a:rPr lang="en-CA" dirty="0" err="1"/>
              <a:t>WebSockets</a:t>
            </a:r>
            <a:r>
              <a:rPr lang="en-CA" dirty="0"/>
              <a:t> and REST reconciliation.</a:t>
            </a:r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Check truck availability and full occupied windows, then reserve capacity atomically to prevent double-booking.</a:t>
            </a:r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Project each truck’s position after delivery and calculate its empty travel to the next pickup.</a:t>
            </a:r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Calculate loaded and deadhead costs, expected profit, margin, and minimum profitable bids before booking.</a:t>
            </a:r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Support manual actions and model-selected automatic bookings, with fresh checks and configurable limits.</a:t>
            </a:r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Store assignments, evaluations, actions, and outcomes in our own database; reconcile missed events and preserve decision history.</a:t>
            </a:r>
          </a:p>
          <a:p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3D6799C-F825-661F-CDAB-7DFA1B7F13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1404486"/>
              </p:ext>
            </p:extLst>
          </p:nvPr>
        </p:nvGraphicFramePr>
        <p:xfrm>
          <a:off x="5506720" y="53678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8161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5C0D2-3FD1-CC16-6635-B60585D2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3C6E-47CE-3011-30BA-B712B50A2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9991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Backend workflow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766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A77A-CB4B-1490-A5F4-8DD884FA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B563-3F20-E005-03AD-0DF3BA60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Backend 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5C1818-0984-61C5-3E49-7ADF218B8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73608" y="1825625"/>
            <a:ext cx="9844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39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15DF9-9BD1-6ACF-E68E-ECFDE54E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428625"/>
            <a:ext cx="11372849" cy="5900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Capture Live Opportunities </a:t>
            </a:r>
          </a:p>
          <a:p>
            <a:pPr lvl="1"/>
            <a:r>
              <a:rPr lang="en-US" dirty="0"/>
              <a:t>Sync orders, fleet, terminals, and simulated time. </a:t>
            </a:r>
          </a:p>
          <a:p>
            <a:pPr marL="0" indent="0">
              <a:buNone/>
            </a:pPr>
            <a:r>
              <a:rPr lang="en-US" dirty="0"/>
              <a:t>Check Operational Feasibility </a:t>
            </a:r>
          </a:p>
          <a:p>
            <a:pPr lvl="1"/>
            <a:r>
              <a:rPr lang="en-US" dirty="0"/>
              <a:t>Verify truck availability, schedules, weight, location, and expiry. </a:t>
            </a:r>
          </a:p>
          <a:p>
            <a:pPr marL="0" indent="0">
              <a:buNone/>
            </a:pPr>
            <a:r>
              <a:rPr lang="en-US" dirty="0"/>
              <a:t> Calculate Expected Profit </a:t>
            </a:r>
          </a:p>
          <a:p>
            <a:pPr lvl="1"/>
            <a:r>
              <a:rPr lang="en-US" dirty="0"/>
              <a:t> Estimate selected-truck deadhead, total cost, margin, and bid floor. </a:t>
            </a:r>
          </a:p>
          <a:p>
            <a:pPr marL="0" indent="0">
              <a:buNone/>
            </a:pPr>
            <a:r>
              <a:rPr lang="en-US" dirty="0"/>
              <a:t> Choose the Booking</a:t>
            </a:r>
          </a:p>
          <a:p>
            <a:pPr lvl="1"/>
            <a:r>
              <a:rPr lang="en-US" dirty="0"/>
              <a:t> Support a dispatcher’s decision or an authorized autopilot selection. </a:t>
            </a:r>
          </a:p>
          <a:p>
            <a:pPr marL="0" indent="0">
              <a:buNone/>
            </a:pPr>
            <a:r>
              <a:rPr lang="en-US" dirty="0"/>
              <a:t>Reserve and Submit </a:t>
            </a:r>
          </a:p>
          <a:p>
            <a:pPr lvl="1"/>
            <a:r>
              <a:rPr lang="en-US" dirty="0"/>
              <a:t> Reserve capacity atomically, recheck applicable conditions, and call the board. </a:t>
            </a:r>
          </a:p>
          <a:p>
            <a:pPr marL="0" indent="0">
              <a:buNone/>
            </a:pPr>
            <a:r>
              <a:rPr lang="en-US" dirty="0"/>
              <a:t>Track and Reconcile </a:t>
            </a:r>
          </a:p>
          <a:p>
            <a:pPr lvl="1"/>
            <a:r>
              <a:rPr lang="en-US" dirty="0"/>
              <a:t>Confirm awards, assignments, transit, and completion; update capacity and audit history.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982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2817-6C36-CFCE-D389-20E37E8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04" y="-23888"/>
            <a:ext cx="10515600" cy="1325563"/>
          </a:xfrm>
        </p:spPr>
        <p:txBody>
          <a:bodyPr/>
          <a:lstStyle/>
          <a:p>
            <a:r>
              <a:rPr lang="en-US" dirty="0"/>
              <a:t>Backend detailed workflow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633EF5-72A9-1C15-1383-512BCDA6C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976881"/>
            <a:ext cx="11201400" cy="55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65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4164B-2C03-629E-CCAF-144631AB6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E999E-CA53-9F12-11FA-D461F75A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9991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Price Analyzer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303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8D63B-8712-59BB-B2F5-C900F1542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95" y="-30045"/>
            <a:ext cx="10515600" cy="1325563"/>
          </a:xfrm>
        </p:spPr>
        <p:txBody>
          <a:bodyPr/>
          <a:lstStyle/>
          <a:p>
            <a:r>
              <a:rPr lang="en-US" dirty="0"/>
              <a:t>Model Analyzer Step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FEB18C-4865-C923-F4EC-C5152BEA1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995" y="1295518"/>
            <a:ext cx="10623200" cy="489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68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B25DA-FD8F-5D4C-5C02-F577D2369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E5920-E298-CF55-6E85-21641CC67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How the model train</a:t>
            </a:r>
          </a:p>
        </p:txBody>
      </p:sp>
    </p:spTree>
    <p:extLst>
      <p:ext uri="{BB962C8B-B14F-4D97-AF65-F5344CB8AC3E}">
        <p14:creationId xmlns:p14="http://schemas.microsoft.com/office/powerpoint/2010/main" val="3787677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EC266-A547-5A5C-EF70-B657DED86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63" y="123544"/>
            <a:ext cx="10515600" cy="1325563"/>
          </a:xfrm>
        </p:spPr>
        <p:txBody>
          <a:bodyPr/>
          <a:lstStyle/>
          <a:p>
            <a:r>
              <a:rPr lang="en-US" dirty="0"/>
              <a:t>Preparing shipment information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642E91-DE76-D782-E0FB-817974B7A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7238" y="1449107"/>
            <a:ext cx="4616562" cy="2283796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9E08D60E-AB43-A136-608A-C5BA50659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01" y="3998604"/>
            <a:ext cx="4134688" cy="2605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F46A37-44AD-A1D0-5E2E-F25EBC3E8E31}"/>
              </a:ext>
            </a:extLst>
          </p:cNvPr>
          <p:cNvSpPr txBox="1"/>
          <p:nvPr/>
        </p:nvSpPr>
        <p:spPr>
          <a:xfrm>
            <a:off x="765421" y="2267839"/>
            <a:ext cx="53305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 err="1"/>
              <a:t>StandardScaler</a:t>
            </a:r>
            <a:r>
              <a:rPr lang="en-CA" dirty="0"/>
              <a:t> puts numeric values onto comparable scales.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DAEC6-3F42-0C93-FF25-728E31081369}"/>
              </a:ext>
            </a:extLst>
          </p:cNvPr>
          <p:cNvSpPr txBox="1"/>
          <p:nvPr/>
        </p:nvSpPr>
        <p:spPr>
          <a:xfrm>
            <a:off x="742844" y="3219422"/>
            <a:ext cx="5442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One-hot encoding turns route and state names into numbers the model can understand. </a:t>
            </a:r>
          </a:p>
        </p:txBody>
      </p:sp>
    </p:spTree>
    <p:extLst>
      <p:ext uri="{BB962C8B-B14F-4D97-AF65-F5344CB8AC3E}">
        <p14:creationId xmlns:p14="http://schemas.microsoft.com/office/powerpoint/2010/main" val="2738950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DC4B-7F70-4E9B-60B0-E3383C43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7AEC-1FC4-AC22-674F-8C8B3EA7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Predicting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FF40F0-1039-9EC7-5717-81154AC58515}"/>
              </a:ext>
            </a:extLst>
          </p:cNvPr>
          <p:cNvSpPr txBox="1"/>
          <p:nvPr/>
        </p:nvSpPr>
        <p:spPr>
          <a:xfrm>
            <a:off x="838200" y="2551837"/>
            <a:ext cx="5257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The model learns from shipment details and historical submitted bids to estimate dollars per loaded mile (RPM). Multiplying that by the shipment’s loaded miles gives the suggested total bid. 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127B98E-8FE9-7414-1FED-1F6CD18E5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284" y="1690688"/>
            <a:ext cx="49315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93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B606C-A5FB-9697-236E-D9224116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9E709-5858-074C-19BF-0A38BC37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63" y="123544"/>
            <a:ext cx="10515600" cy="1325563"/>
          </a:xfrm>
        </p:spPr>
        <p:txBody>
          <a:bodyPr>
            <a:normAutofit/>
          </a:bodyPr>
          <a:lstStyle/>
          <a:p>
            <a:r>
              <a:rPr lang="en-CA" dirty="0"/>
              <a:t>Ask the model to estimate a price using </a:t>
            </a:r>
            <a:r>
              <a:rPr lang="en-CA" dirty="0" err="1"/>
              <a:t>ReLU</a:t>
            </a:r>
            <a:endParaRPr lang="en-CA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47636ABC-3A55-46C3-5932-107E36B2D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2266" y="1772272"/>
            <a:ext cx="4997300" cy="33750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58D6F9-1178-E0C2-C831-94FD184DCD48}"/>
              </a:ext>
            </a:extLst>
          </p:cNvPr>
          <p:cNvSpPr txBox="1"/>
          <p:nvPr/>
        </p:nvSpPr>
        <p:spPr>
          <a:xfrm>
            <a:off x="683109" y="1772272"/>
            <a:ext cx="5276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Neural-network regression combines the shipment details to predict RPM.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8E9CBD-D0A6-D672-D076-8363B04B7B42}"/>
              </a:ext>
            </a:extLst>
          </p:cNvPr>
          <p:cNvSpPr txBox="1"/>
          <p:nvPr/>
        </p:nvSpPr>
        <p:spPr>
          <a:xfrm>
            <a:off x="683109" y="2551837"/>
            <a:ext cx="52766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Inside the network, </a:t>
            </a:r>
            <a:r>
              <a:rPr lang="en-CA" dirty="0" err="1"/>
              <a:t>ReLU</a:t>
            </a:r>
            <a:r>
              <a:rPr lang="en-CA" dirty="0"/>
              <a:t> helps it learn complex relationships. </a:t>
            </a:r>
          </a:p>
          <a:p>
            <a:pPr>
              <a:buNone/>
            </a:pPr>
            <a:endParaRPr lang="en-CA" dirty="0"/>
          </a:p>
          <a:p>
            <a:pPr>
              <a:buNone/>
            </a:pPr>
            <a:r>
              <a:rPr lang="en-CA" dirty="0"/>
              <a:t>For example, how distance and route together influence price. Softplus keeps the final predicted RPM positive. </a:t>
            </a:r>
          </a:p>
        </p:txBody>
      </p:sp>
    </p:spTree>
    <p:extLst>
      <p:ext uri="{BB962C8B-B14F-4D97-AF65-F5344CB8AC3E}">
        <p14:creationId xmlns:p14="http://schemas.microsoft.com/office/powerpoint/2010/main" val="180788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C8871-6D8E-2DF2-F4AA-A97577EA1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9D4B-EDBA-C0C2-9ADD-FB306BB6F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Learn from the mistake 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67C2EED2-0B47-4C90-993D-9932CDCCF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2787" y="2258488"/>
            <a:ext cx="4921013" cy="2747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C811E5-3A37-CEBB-C50F-0D9486DE4F60}"/>
              </a:ext>
            </a:extLst>
          </p:cNvPr>
          <p:cNvSpPr txBox="1"/>
          <p:nvPr/>
        </p:nvSpPr>
        <p:spPr>
          <a:xfrm>
            <a:off x="838200" y="2155142"/>
            <a:ext cx="53474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The historical answer is calculated as: </a:t>
            </a:r>
          </a:p>
          <a:p>
            <a:pPr>
              <a:buNone/>
            </a:pPr>
            <a:endParaRPr lang="en-CA" dirty="0"/>
          </a:p>
          <a:p>
            <a:pPr>
              <a:buNone/>
            </a:pPr>
            <a:r>
              <a:rPr lang="en-CA" i="1" dirty="0"/>
              <a:t>Submitted bid ÷ loaded miles = historical RPM</a:t>
            </a:r>
            <a:r>
              <a:rPr lang="en-CA" dirty="0"/>
              <a:t> </a:t>
            </a:r>
          </a:p>
          <a:p>
            <a:pPr>
              <a:buNone/>
            </a:pPr>
            <a:endParaRPr lang="en-CA" dirty="0"/>
          </a:p>
          <a:p>
            <a:pPr>
              <a:buNone/>
            </a:pP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271D1-1AAA-6EDC-CD41-F0B8EA9BEDE8}"/>
              </a:ext>
            </a:extLst>
          </p:cNvPr>
          <p:cNvSpPr txBox="1"/>
          <p:nvPr/>
        </p:nvSpPr>
        <p:spPr>
          <a:xfrm>
            <a:off x="838200" y="3550937"/>
            <a:ext cx="5257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Huber loss measures the difference between the prediction and that answer, while preventing a few extreme errors from dominating the learning.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2DFBD4-BE3D-491F-C25A-1252E9EC1855}"/>
              </a:ext>
            </a:extLst>
          </p:cNvPr>
          <p:cNvSpPr txBox="1"/>
          <p:nvPr/>
        </p:nvSpPr>
        <p:spPr>
          <a:xfrm>
            <a:off x="838200" y="5969655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dirty="0"/>
              <a:t>Repeat, check and save…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8248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3A2A7-DC41-6374-F876-BF959B1E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157B-FD2B-B13E-3989-02BD0FBB6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Live use of the model</a:t>
            </a:r>
          </a:p>
        </p:txBody>
      </p:sp>
    </p:spTree>
    <p:extLst>
      <p:ext uri="{BB962C8B-B14F-4D97-AF65-F5344CB8AC3E}">
        <p14:creationId xmlns:p14="http://schemas.microsoft.com/office/powerpoint/2010/main" val="3539546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141EC-329B-1BB4-2983-A03C90E6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Fleet matching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58A6F0-2441-05E4-7B85-F56C62A19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10300" y="1879599"/>
            <a:ext cx="5514975" cy="30702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4FBBF2-6D76-3732-9EA2-5FB04BCBBB35}"/>
              </a:ext>
            </a:extLst>
          </p:cNvPr>
          <p:cNvSpPr txBox="1"/>
          <p:nvPr/>
        </p:nvSpPr>
        <p:spPr>
          <a:xfrm>
            <a:off x="705075" y="2553244"/>
            <a:ext cx="5276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Inside the fleet matcher, successive shortest augmenting paths helps it choose the order truck combination with the highest total projected profit.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751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712A-6B03-F8D2-DE21-A2373CB6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Calculate Bids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1FBBA9-DDE4-FBF3-8B4C-D246CE131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796" y="1825625"/>
            <a:ext cx="78324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80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5ABF1-91A9-E566-682C-158F50E00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CC7F-9DF6-6662-84B0-F029C69D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Frontend Pages</a:t>
            </a:r>
          </a:p>
        </p:txBody>
      </p:sp>
    </p:spTree>
    <p:extLst>
      <p:ext uri="{BB962C8B-B14F-4D97-AF65-F5344CB8AC3E}">
        <p14:creationId xmlns:p14="http://schemas.microsoft.com/office/powerpoint/2010/main" val="3744666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73E9-FB7C-1540-640E-30391DB3F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379412"/>
            <a:ext cx="10515600" cy="1325563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7493D5-E1FC-DACB-90B4-00348C262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137" y="1443766"/>
            <a:ext cx="7772400" cy="397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13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80AE-5EED-EED0-89BB-34378A00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84FE-974C-2C1B-B6E4-C6EB98191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379412"/>
            <a:ext cx="10515600" cy="1325563"/>
          </a:xfrm>
        </p:spPr>
        <p:txBody>
          <a:bodyPr/>
          <a:lstStyle/>
          <a:p>
            <a:r>
              <a:rPr lang="en-US" dirty="0"/>
              <a:t>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1DA91E-997B-1047-15C3-5A4CA74FC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012" y="1205427"/>
            <a:ext cx="7772400" cy="444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36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96E4-9D59-CA28-6E20-59365FB9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F40C5-C595-B821-E5A3-C05D88DB4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379412"/>
            <a:ext cx="10515600" cy="1325563"/>
          </a:xfrm>
        </p:spPr>
        <p:txBody>
          <a:bodyPr/>
          <a:lstStyle/>
          <a:p>
            <a:r>
              <a:rPr lang="en-US" dirty="0"/>
              <a:t>Load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000C1-8A02-B754-C275-9B8BAC01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263" y="1704975"/>
            <a:ext cx="7772400" cy="370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03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EE6FA-4287-3B0F-AC1E-7E4218485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F8BCF-A7FC-9483-CCFB-49BF793CB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379412"/>
            <a:ext cx="10515600" cy="1325563"/>
          </a:xfrm>
        </p:spPr>
        <p:txBody>
          <a:bodyPr/>
          <a:lstStyle/>
          <a:p>
            <a:r>
              <a:rPr lang="en-US" dirty="0"/>
              <a:t>Auto-pilot limiter and settings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6D861E-9F7D-5436-D406-56A618CEC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38088"/>
            <a:ext cx="7772400" cy="235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620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D8968-CCA9-38D4-F0E3-45426248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5C29F-6E9F-28D2-563F-22B6F6CBF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379412"/>
            <a:ext cx="10515600" cy="1325563"/>
          </a:xfrm>
        </p:spPr>
        <p:txBody>
          <a:bodyPr/>
          <a:lstStyle/>
          <a:p>
            <a:r>
              <a:rPr lang="en-US" dirty="0"/>
              <a:t>Price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D48303-577D-270E-3764-F2492236D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137" y="1042193"/>
            <a:ext cx="7010399" cy="496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18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463AE-992D-9E8E-F5FF-25F645AB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A28B-917B-F0E7-ED59-92AB45A4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379412"/>
            <a:ext cx="10515600" cy="1325563"/>
          </a:xfrm>
        </p:spPr>
        <p:txBody>
          <a:bodyPr/>
          <a:lstStyle/>
          <a:p>
            <a:r>
              <a:rPr lang="en-US" dirty="0"/>
              <a:t>Terminals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9ED79F-16D0-4783-0EE1-4566ECC86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966081"/>
            <a:ext cx="7339012" cy="492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602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367C9-64A7-94A9-BB8E-503165AB8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5CBA-BCBA-1ED3-B2F3-EB54A0A20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379412"/>
            <a:ext cx="10515600" cy="1325563"/>
          </a:xfrm>
        </p:spPr>
        <p:txBody>
          <a:bodyPr/>
          <a:lstStyle/>
          <a:p>
            <a:r>
              <a:rPr lang="en-US" dirty="0"/>
              <a:t>Shipments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301EB0-8BFC-BA8E-4DF0-516389407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412" y="901590"/>
            <a:ext cx="7772400" cy="505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12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1260</TotalTime>
  <Words>701</Words>
  <Application>Microsoft Macintosh PowerPoint</Application>
  <PresentationFormat>Widescreen</PresentationFormat>
  <Paragraphs>96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SFI Challenge Solution Proposal</vt:lpstr>
      <vt:lpstr>The Business Problem</vt:lpstr>
      <vt:lpstr>PowerPoint Presentation</vt:lpstr>
      <vt:lpstr>The Challenge Goal</vt:lpstr>
      <vt:lpstr>PowerPoint Presentation</vt:lpstr>
      <vt:lpstr>High-level System Architecture</vt:lpstr>
      <vt:lpstr>ERD</vt:lpstr>
      <vt:lpstr>What the Backend Delivers</vt:lpstr>
      <vt:lpstr>PowerPoint Presentation</vt:lpstr>
      <vt:lpstr>Backend workflow</vt:lpstr>
      <vt:lpstr>High-level Backend Workflow</vt:lpstr>
      <vt:lpstr>PowerPoint Presentation</vt:lpstr>
      <vt:lpstr>Backend detailed workflow</vt:lpstr>
      <vt:lpstr>Price Analyzer</vt:lpstr>
      <vt:lpstr>Model Analyzer Step</vt:lpstr>
      <vt:lpstr>How the model train</vt:lpstr>
      <vt:lpstr>Preparing shipment information</vt:lpstr>
      <vt:lpstr>Predicting Number</vt:lpstr>
      <vt:lpstr>Ask the model to estimate a price using ReLU</vt:lpstr>
      <vt:lpstr>Learn from the mistake </vt:lpstr>
      <vt:lpstr>Live use of the model</vt:lpstr>
      <vt:lpstr>Fleet matching</vt:lpstr>
      <vt:lpstr> Calculate Bids</vt:lpstr>
      <vt:lpstr>Frontend Pages</vt:lpstr>
      <vt:lpstr>Dashboard</vt:lpstr>
      <vt:lpstr>Analytics</vt:lpstr>
      <vt:lpstr>Load Board</vt:lpstr>
      <vt:lpstr>Auto-pilot limiter and settings</vt:lpstr>
      <vt:lpstr>Price Analysis</vt:lpstr>
      <vt:lpstr>Terminals</vt:lpstr>
      <vt:lpstr>Shipments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Rycca Belcina</dc:creator>
  <cp:lastModifiedBy>Rycca Belcina</cp:lastModifiedBy>
  <cp:revision>1</cp:revision>
  <dcterms:created xsi:type="dcterms:W3CDTF">2026-10-17T23:11:41Z</dcterms:created>
  <dcterms:modified xsi:type="dcterms:W3CDTF">2026-10-18T20:11:52Z</dcterms:modified>
</cp:coreProperties>
</file>